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0074" autoAdjust="0"/>
  </p:normalViewPr>
  <p:slideViewPr>
    <p:cSldViewPr snapToGrid="0">
      <p:cViewPr varScale="1">
        <p:scale>
          <a:sx n="34" d="100"/>
          <a:sy n="34" d="100"/>
        </p:scale>
        <p:origin x="1230"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1B3EA-4422-404C-B326-E4A5F404F43C}" type="datetimeFigureOut">
              <a:rPr lang="en-GB" smtClean="0"/>
              <a:t>17/01/2025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09B66A-033B-4A49-A665-22EC49F1A52A}" type="slidenum">
              <a:rPr lang="en-GB" smtClean="0"/>
              <a:t>‹#›</a:t>
            </a:fld>
            <a:endParaRPr lang="en-GB"/>
          </a:p>
        </p:txBody>
      </p:sp>
    </p:spTree>
    <p:extLst>
      <p:ext uri="{BB962C8B-B14F-4D97-AF65-F5344CB8AC3E}">
        <p14:creationId xmlns:p14="http://schemas.microsoft.com/office/powerpoint/2010/main" val="593584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09B66A-033B-4A49-A665-22EC49F1A52A}" type="slidenum">
              <a:rPr lang="en-GB" smtClean="0"/>
              <a:t>2</a:t>
            </a:fld>
            <a:endParaRPr lang="en-GB"/>
          </a:p>
        </p:txBody>
      </p:sp>
    </p:spTree>
    <p:extLst>
      <p:ext uri="{BB962C8B-B14F-4D97-AF65-F5344CB8AC3E}">
        <p14:creationId xmlns:p14="http://schemas.microsoft.com/office/powerpoint/2010/main" val="411355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30FE42B-69B7-4B33-A576-D91BE57A1DBC}"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7B3ADE-8034-4997-BFF3-BD608753879B}"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597419"/>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0FE42B-69B7-4B33-A576-D91BE57A1DBC}"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7B3ADE-8034-4997-BFF3-BD608753879B}" type="slidenum">
              <a:rPr lang="en-GB" smtClean="0"/>
              <a:t>‹#›</a:t>
            </a:fld>
            <a:endParaRPr lang="en-GB"/>
          </a:p>
        </p:txBody>
      </p:sp>
    </p:spTree>
    <p:extLst>
      <p:ext uri="{BB962C8B-B14F-4D97-AF65-F5344CB8AC3E}">
        <p14:creationId xmlns:p14="http://schemas.microsoft.com/office/powerpoint/2010/main" val="465339610"/>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0FE42B-69B7-4B33-A576-D91BE57A1DBC}"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7B3ADE-8034-4997-BFF3-BD608753879B}"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2172969"/>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0FE42B-69B7-4B33-A576-D91BE57A1DBC}" type="datetimeFigureOut">
              <a:rPr lang="en-GB" smtClean="0"/>
              <a:t>17/01/2025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7B3ADE-8034-4997-BFF3-BD608753879B}" type="slidenum">
              <a:rPr lang="en-GB" smtClean="0"/>
              <a:t>‹#›</a:t>
            </a:fld>
            <a:endParaRPr lang="en-GB"/>
          </a:p>
        </p:txBody>
      </p:sp>
    </p:spTree>
    <p:extLst>
      <p:ext uri="{BB962C8B-B14F-4D97-AF65-F5344CB8AC3E}">
        <p14:creationId xmlns:p14="http://schemas.microsoft.com/office/powerpoint/2010/main" val="2161400975"/>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0FE42B-69B7-4B33-A576-D91BE57A1DBC}" type="datetimeFigureOut">
              <a:rPr lang="en-GB" smtClean="0"/>
              <a:t>17/01/2025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97B3ADE-8034-4997-BFF3-BD608753879B}" type="slidenum">
              <a:rPr lang="en-GB" smtClean="0"/>
              <a:t>‹#›</a:t>
            </a:fld>
            <a:endParaRPr lang="en-GB"/>
          </a:p>
        </p:txBody>
      </p:sp>
    </p:spTree>
    <p:extLst>
      <p:ext uri="{BB962C8B-B14F-4D97-AF65-F5344CB8AC3E}">
        <p14:creationId xmlns:p14="http://schemas.microsoft.com/office/powerpoint/2010/main" val="1715734395"/>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0FE42B-69B7-4B33-A576-D91BE57A1DBC}" type="datetimeFigureOut">
              <a:rPr lang="en-GB" smtClean="0"/>
              <a:t>17/01/2025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97B3ADE-8034-4997-BFF3-BD608753879B}" type="slidenum">
              <a:rPr lang="en-GB" smtClean="0"/>
              <a:t>‹#›</a:t>
            </a:fld>
            <a:endParaRPr lang="en-GB"/>
          </a:p>
        </p:txBody>
      </p:sp>
    </p:spTree>
    <p:extLst>
      <p:ext uri="{BB962C8B-B14F-4D97-AF65-F5344CB8AC3E}">
        <p14:creationId xmlns:p14="http://schemas.microsoft.com/office/powerpoint/2010/main" val="551647085"/>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0FE42B-69B7-4B33-A576-D91BE57A1DBC}" type="datetimeFigureOut">
              <a:rPr lang="en-GB" smtClean="0"/>
              <a:t>17/01/2025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97B3ADE-8034-4997-BFF3-BD608753879B}" type="slidenum">
              <a:rPr lang="en-GB" smtClean="0"/>
              <a:t>‹#›</a:t>
            </a:fld>
            <a:endParaRPr lang="en-GB"/>
          </a:p>
        </p:txBody>
      </p:sp>
    </p:spTree>
    <p:extLst>
      <p:ext uri="{BB962C8B-B14F-4D97-AF65-F5344CB8AC3E}">
        <p14:creationId xmlns:p14="http://schemas.microsoft.com/office/powerpoint/2010/main" val="2212272492"/>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0FE42B-69B7-4B33-A576-D91BE57A1DBC}" type="datetimeFigureOut">
              <a:rPr lang="en-GB" smtClean="0"/>
              <a:t>17/01/2025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7B3ADE-8034-4997-BFF3-BD608753879B}" type="slidenum">
              <a:rPr lang="en-GB" smtClean="0"/>
              <a:t>‹#›</a:t>
            </a:fld>
            <a:endParaRPr lang="en-GB"/>
          </a:p>
        </p:txBody>
      </p:sp>
    </p:spTree>
    <p:extLst>
      <p:ext uri="{BB962C8B-B14F-4D97-AF65-F5344CB8AC3E}">
        <p14:creationId xmlns:p14="http://schemas.microsoft.com/office/powerpoint/2010/main" val="367721860"/>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0FE42B-69B7-4B33-A576-D91BE57A1DBC}" type="datetimeFigureOut">
              <a:rPr lang="en-GB" smtClean="0"/>
              <a:t>17/01/2025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7B3ADE-8034-4997-BFF3-BD608753879B}"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209709"/>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0FE42B-69B7-4B33-A576-D91BE57A1DBC}"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7B3ADE-8034-4997-BFF3-BD608753879B}" type="slidenum">
              <a:rPr lang="en-GB" smtClean="0"/>
              <a:t>‹#›</a:t>
            </a:fld>
            <a:endParaRPr lang="en-GB"/>
          </a:p>
        </p:txBody>
      </p:sp>
    </p:spTree>
    <p:extLst>
      <p:ext uri="{BB962C8B-B14F-4D97-AF65-F5344CB8AC3E}">
        <p14:creationId xmlns:p14="http://schemas.microsoft.com/office/powerpoint/2010/main" val="451008036"/>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0FE42B-69B7-4B33-A576-D91BE57A1DBC}" type="datetimeFigureOut">
              <a:rPr lang="en-GB" smtClean="0"/>
              <a:t>17/01/2025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7B3ADE-8034-4997-BFF3-BD608753879B}" type="slidenum">
              <a:rPr lang="en-GB" smtClean="0"/>
              <a:t>‹#›</a:t>
            </a:fld>
            <a:endParaRPr lang="en-GB"/>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9572297"/>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30FE42B-69B7-4B33-A576-D91BE57A1DBC}" type="datetimeFigureOut">
              <a:rPr lang="en-GB" smtClean="0"/>
              <a:t>17/01/2025</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97B3ADE-8034-4997-BFF3-BD608753879B}" type="slidenum">
              <a:rPr lang="en-GB" smtClean="0"/>
              <a:t>‹#›</a:t>
            </a:fld>
            <a:endParaRPr lang="en-GB"/>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883349"/>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67C1CC5-1B7D-42B1-9644-D55113BB6581}"/>
              </a:ext>
            </a:extLst>
          </p:cNvPr>
          <p:cNvSpPr txBox="1"/>
          <p:nvPr/>
        </p:nvSpPr>
        <p:spPr>
          <a:xfrm>
            <a:off x="1010625" y="650863"/>
            <a:ext cx="9909544" cy="584775"/>
          </a:xfrm>
          <a:prstGeom prst="rect">
            <a:avLst/>
          </a:prstGeom>
          <a:noFill/>
        </p:spPr>
        <p:txBody>
          <a:bodyPr wrap="square" rtlCol="0">
            <a:spAutoFit/>
          </a:bodyPr>
          <a:lstStyle/>
          <a:p>
            <a:pPr algn="ctr"/>
            <a:r>
              <a:rPr lang="en-GB" sz="3200" b="1" dirty="0">
                <a:latin typeface="Times New Roman" panose="02020603050405020304" pitchFamily="18" charset="0"/>
                <a:cs typeface="Times New Roman" panose="02020603050405020304" pitchFamily="18" charset="0"/>
              </a:rPr>
              <a:t>NAME:ODHIAMBO BEATRICE SHISIA</a:t>
            </a:r>
          </a:p>
        </p:txBody>
      </p:sp>
      <p:sp>
        <p:nvSpPr>
          <p:cNvPr id="7" name="TextBox 6">
            <a:extLst>
              <a:ext uri="{FF2B5EF4-FFF2-40B4-BE49-F238E27FC236}">
                <a16:creationId xmlns:a16="http://schemas.microsoft.com/office/drawing/2014/main" id="{9A5B7D70-EB39-4BD0-A1DE-EF5378168932}"/>
              </a:ext>
            </a:extLst>
          </p:cNvPr>
          <p:cNvSpPr txBox="1"/>
          <p:nvPr/>
        </p:nvSpPr>
        <p:spPr>
          <a:xfrm>
            <a:off x="1010625" y="1794388"/>
            <a:ext cx="9909544" cy="584775"/>
          </a:xfrm>
          <a:prstGeom prst="rect">
            <a:avLst/>
          </a:prstGeom>
          <a:noFill/>
        </p:spPr>
        <p:txBody>
          <a:bodyPr wrap="square" rtlCol="0">
            <a:spAutoFit/>
          </a:bodyPr>
          <a:lstStyle/>
          <a:p>
            <a:pPr algn="ctr"/>
            <a:r>
              <a:rPr lang="en-GB" sz="3200" b="1" dirty="0">
                <a:latin typeface="Times New Roman" panose="02020603050405020304" pitchFamily="18" charset="0"/>
                <a:cs typeface="Times New Roman" panose="02020603050405020304" pitchFamily="18" charset="0"/>
              </a:rPr>
              <a:t>ADMISSION NUMBER:SB30</a:t>
            </a:r>
            <a:r>
              <a:rPr lang="en-GB" sz="3200" b="1" dirty="0"/>
              <a:t>/</a:t>
            </a:r>
            <a:r>
              <a:rPr lang="en-GB" sz="3200" b="1" dirty="0">
                <a:latin typeface="Times New Roman" panose="02020603050405020304" pitchFamily="18" charset="0"/>
                <a:cs typeface="Times New Roman" panose="02020603050405020304" pitchFamily="18" charset="0"/>
              </a:rPr>
              <a:t>PU</a:t>
            </a:r>
            <a:r>
              <a:rPr lang="en-GB" sz="3200" b="1" dirty="0"/>
              <a:t>/</a:t>
            </a:r>
            <a:r>
              <a:rPr lang="en-GB" sz="3200" b="1" dirty="0">
                <a:latin typeface="Times New Roman" panose="02020603050405020304" pitchFamily="18" charset="0"/>
                <a:cs typeface="Times New Roman" panose="02020603050405020304" pitchFamily="18" charset="0"/>
              </a:rPr>
              <a:t>40279/21</a:t>
            </a:r>
          </a:p>
        </p:txBody>
      </p:sp>
      <p:sp>
        <p:nvSpPr>
          <p:cNvPr id="8" name="TextBox 7">
            <a:extLst>
              <a:ext uri="{FF2B5EF4-FFF2-40B4-BE49-F238E27FC236}">
                <a16:creationId xmlns:a16="http://schemas.microsoft.com/office/drawing/2014/main" id="{D558B488-EE4F-4E31-B21C-74C4818D6BB2}"/>
              </a:ext>
            </a:extLst>
          </p:cNvPr>
          <p:cNvSpPr txBox="1"/>
          <p:nvPr/>
        </p:nvSpPr>
        <p:spPr>
          <a:xfrm>
            <a:off x="1010625" y="5745472"/>
            <a:ext cx="9909544" cy="461665"/>
          </a:xfrm>
          <a:prstGeom prst="rect">
            <a:avLst/>
          </a:prstGeom>
          <a:noFill/>
        </p:spPr>
        <p:txBody>
          <a:bodyPr wrap="square" rtlCol="0">
            <a:spAutoFit/>
          </a:bodyPr>
          <a:lstStyle/>
          <a:p>
            <a:pPr algn="ctr"/>
            <a:r>
              <a:rPr lang="en-GB" sz="2400" b="1" dirty="0">
                <a:latin typeface="Times New Roman" panose="02020603050405020304" pitchFamily="18" charset="0"/>
                <a:cs typeface="Times New Roman" panose="02020603050405020304" pitchFamily="18" charset="0"/>
              </a:rPr>
              <a:t>SUPERVISOR’S</a:t>
            </a:r>
            <a:r>
              <a:rPr lang="en-GB" sz="2400" b="1" dirty="0"/>
              <a:t> NAME: DR. MWANASAID OMAR</a:t>
            </a:r>
          </a:p>
        </p:txBody>
      </p:sp>
      <p:sp>
        <p:nvSpPr>
          <p:cNvPr id="9" name="TextBox 8">
            <a:extLst>
              <a:ext uri="{FF2B5EF4-FFF2-40B4-BE49-F238E27FC236}">
                <a16:creationId xmlns:a16="http://schemas.microsoft.com/office/drawing/2014/main" id="{65B755A1-B644-4A5F-9987-6476877DB000}"/>
              </a:ext>
            </a:extLst>
          </p:cNvPr>
          <p:cNvSpPr txBox="1"/>
          <p:nvPr/>
        </p:nvSpPr>
        <p:spPr>
          <a:xfrm>
            <a:off x="1319385" y="2937913"/>
            <a:ext cx="9909544" cy="1446550"/>
          </a:xfrm>
          <a:prstGeom prst="rect">
            <a:avLst/>
          </a:prstGeom>
          <a:noFill/>
        </p:spPr>
        <p:txBody>
          <a:bodyPr wrap="square" rtlCol="0">
            <a:spAutoFit/>
          </a:bodyPr>
          <a:lstStyle/>
          <a:p>
            <a:pPr algn="ctr"/>
            <a:r>
              <a:rPr lang="en-GB" sz="4400" b="1" dirty="0">
                <a:latin typeface="Times New Roman" panose="02020603050405020304" pitchFamily="18" charset="0"/>
                <a:cs typeface="Times New Roman" panose="02020603050405020304" pitchFamily="18" charset="0"/>
              </a:rPr>
              <a:t>TITLE:UNIVERSITY STUDENT REGISTRATION APPLICATION</a:t>
            </a:r>
          </a:p>
        </p:txBody>
      </p:sp>
    </p:spTree>
    <p:extLst>
      <p:ext uri="{BB962C8B-B14F-4D97-AF65-F5344CB8AC3E}">
        <p14:creationId xmlns:p14="http://schemas.microsoft.com/office/powerpoint/2010/main" val="118080547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8B7BF4-2375-4ADE-9013-B902C21FBF14}"/>
              </a:ext>
            </a:extLst>
          </p:cNvPr>
          <p:cNvSpPr txBox="1"/>
          <p:nvPr/>
        </p:nvSpPr>
        <p:spPr>
          <a:xfrm>
            <a:off x="370895" y="0"/>
            <a:ext cx="11670684" cy="6947864"/>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BACKGROUND</a:t>
            </a:r>
          </a:p>
          <a:p>
            <a:pPr algn="just">
              <a:lnSpc>
                <a:spcPct val="115000"/>
              </a:lnSpc>
              <a:spcAft>
                <a:spcPts val="800"/>
              </a:spcAft>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Registration processes in every university help to keep the actual academic and personal details of every student. However, a number of institutions still rely on doing this manually or using an outdated system, which in turn introduces a lot of inefficiencies and inaccuracies. </a:t>
            </a:r>
            <a:r>
              <a:rPr lang="en-GB" sz="2000" kern="100" dirty="0">
                <a:latin typeface="Times New Roman" panose="02020603050405020304" pitchFamily="18" charset="0"/>
                <a:ea typeface="Times New Roman" panose="02020603050405020304" pitchFamily="18" charset="0"/>
                <a:cs typeface="Times New Roman" panose="02020603050405020304" pitchFamily="18" charset="0"/>
              </a:rPr>
              <a:t>I</a:t>
            </a: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t is indicated that in studies, a number of university administrators still experience delays and great inconvenience as a result of paper-based or even semi-digital registration systems; these have created a demand for fully integrated, user-friendly solutions. The University Student Registration Application is designed to provide an mobile based online platform to new students for </a:t>
            </a:r>
            <a:r>
              <a:rPr lang="en-GB" sz="2000" kern="100" dirty="0">
                <a:latin typeface="Times New Roman" panose="02020603050405020304" pitchFamily="18" charset="0"/>
                <a:ea typeface="Times New Roman" panose="02020603050405020304" pitchFamily="18" charset="0"/>
                <a:cs typeface="Times New Roman" panose="02020603050405020304" pitchFamily="18" charset="0"/>
              </a:rPr>
              <a:t>acquiring news letter, </a:t>
            </a: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registering, updating, uploading student’s personal information and ID card booking for processing. This project will aim to implement an efficient system, which minimizes processing time along with lesser errors in the data and helps in meeting the demands of both the students and the administrative staff with efficacy.</a:t>
            </a:r>
          </a:p>
          <a:p>
            <a:pPr algn="just">
              <a:lnSpc>
                <a:spcPct val="115000"/>
              </a:lnSpc>
              <a:spcAft>
                <a:spcPts val="800"/>
              </a:spcAft>
            </a:pPr>
            <a:r>
              <a:rPr lang="en-GB" sz="2000" b="1" kern="100" dirty="0">
                <a:latin typeface="Times New Roman" panose="02020603050405020304" pitchFamily="18" charset="0"/>
                <a:ea typeface="Times New Roman" panose="02020603050405020304" pitchFamily="18" charset="0"/>
                <a:cs typeface="Times New Roman" panose="02020603050405020304" pitchFamily="18" charset="0"/>
              </a:rPr>
              <a:t>PROBLEM STATEMENT</a:t>
            </a:r>
          </a:p>
          <a:p>
            <a:pPr algn="just">
              <a:lnSpc>
                <a:spcPct val="115000"/>
              </a:lnSpc>
              <a:spcAft>
                <a:spcPts val="800"/>
              </a:spcAft>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The current system of student registration in most universities has been facing many challenges, hence inconveniencing the students, faculty, and administrative staff. Registration periods are characterized by long queues and tedious procedures of registration with form-filling redundancies. Ineffective handling of data and errors caused by manual processing have made the management of individual records of students in the university quite cumbersome for university administrators. Such problems, consequently, have a negative impact. </a:t>
            </a:r>
            <a:r>
              <a:rPr lang="en-GB" sz="2000" kern="100">
                <a:effectLst/>
                <a:latin typeface="Times New Roman" panose="02020603050405020304" pitchFamily="18" charset="0"/>
                <a:ea typeface="Times New Roman" panose="02020603050405020304" pitchFamily="18" charset="0"/>
                <a:cs typeface="Times New Roman" panose="02020603050405020304" pitchFamily="18" charset="0"/>
              </a:rPr>
              <a:t>A</a:t>
            </a:r>
            <a:r>
              <a:rPr lang="en-GB" sz="2000">
                <a:effectLst/>
                <a:latin typeface="Times New Roman" panose="02020603050405020304" pitchFamily="18" charset="0"/>
                <a:ea typeface="Times New Roman" panose="02020603050405020304" pitchFamily="18" charset="0"/>
                <a:cs typeface="Times New Roman" panose="02020603050405020304" pitchFamily="18" charset="0"/>
              </a:rPr>
              <a:t>ddressing </a:t>
            </a:r>
            <a:r>
              <a:rPr lang="en-GB" sz="2000" dirty="0">
                <a:effectLst/>
                <a:latin typeface="Times New Roman" panose="02020603050405020304" pitchFamily="18" charset="0"/>
                <a:ea typeface="Times New Roman" panose="02020603050405020304" pitchFamily="18" charset="0"/>
                <a:cs typeface="Times New Roman" panose="02020603050405020304" pitchFamily="18" charset="0"/>
              </a:rPr>
              <a:t>these inefficiencies is quite significant through one integrated, accessible digital solution that can meet the needs of the university.</a:t>
            </a:r>
            <a:endPar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3316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C85645-6FA2-4C4A-A54C-8979D4F6344F}"/>
              </a:ext>
            </a:extLst>
          </p:cNvPr>
          <p:cNvSpPr txBox="1"/>
          <p:nvPr/>
        </p:nvSpPr>
        <p:spPr>
          <a:xfrm>
            <a:off x="655674" y="1075813"/>
            <a:ext cx="10345479" cy="6266139"/>
          </a:xfrm>
          <a:prstGeom prst="rect">
            <a:avLst/>
          </a:prstGeom>
          <a:noFill/>
        </p:spPr>
        <p:txBody>
          <a:bodyPr wrap="square" rtlCol="0">
            <a:spAutoFit/>
          </a:bodyPr>
          <a:lstStyle/>
          <a:p>
            <a:pPr algn="just">
              <a:lnSpc>
                <a:spcPct val="115000"/>
              </a:lnSpc>
              <a:spcAft>
                <a:spcPts val="800"/>
              </a:spcAft>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The main objective of this project will be to design a university student registration mobile application.</a:t>
            </a:r>
          </a:p>
          <a:p>
            <a:pPr algn="just">
              <a:lnSpc>
                <a:spcPct val="115000"/>
              </a:lnSpc>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Specific Objectives</a:t>
            </a:r>
            <a:endParaRPr lang="en-GB" sz="2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800"/>
              </a:spcAft>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1. To study the existing procedures for registration and find the specific needs of the users.</a:t>
            </a:r>
          </a:p>
          <a:p>
            <a:pPr algn="just">
              <a:lnSpc>
                <a:spcPct val="115000"/>
              </a:lnSpc>
              <a:spcAft>
                <a:spcPts val="800"/>
              </a:spcAft>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2. To develop a mobile application that will facilitate student registration, updating of data, verification processes and </a:t>
            </a:r>
            <a:r>
              <a:rPr lang="en-GB" sz="2400" kern="100" dirty="0">
                <a:latin typeface="Times New Roman" panose="02020603050405020304" pitchFamily="18" charset="0"/>
                <a:ea typeface="Times New Roman" panose="02020603050405020304" pitchFamily="18" charset="0"/>
                <a:cs typeface="Times New Roman" panose="02020603050405020304" pitchFamily="18" charset="0"/>
              </a:rPr>
              <a:t>ID booking through integration of the application with m-</a:t>
            </a:r>
            <a:r>
              <a:rPr lang="en-GB" sz="2400" kern="100" dirty="0" err="1">
                <a:latin typeface="Times New Roman" panose="02020603050405020304" pitchFamily="18" charset="0"/>
                <a:ea typeface="Times New Roman" panose="02020603050405020304" pitchFamily="18" charset="0"/>
                <a:cs typeface="Times New Roman" panose="02020603050405020304" pitchFamily="18" charset="0"/>
              </a:rPr>
              <a:t>pesa</a:t>
            </a:r>
            <a:r>
              <a:rPr lang="en-GB" sz="2400" kern="100" dirty="0">
                <a:latin typeface="Times New Roman" panose="02020603050405020304" pitchFamily="18" charset="0"/>
                <a:ea typeface="Times New Roman" panose="02020603050405020304" pitchFamily="18" charset="0"/>
                <a:cs typeface="Times New Roman" panose="02020603050405020304" pitchFamily="18" charset="0"/>
              </a:rPr>
              <a:t> for payment.</a:t>
            </a:r>
            <a:endPar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800"/>
              </a:spcAft>
            </a:pPr>
            <a:r>
              <a:rPr lang="en-GB" sz="2400" kern="100" dirty="0">
                <a:latin typeface="Times New Roman" panose="02020603050405020304" pitchFamily="18" charset="0"/>
                <a:ea typeface="Times New Roman" panose="02020603050405020304" pitchFamily="18" charset="0"/>
                <a:cs typeface="Times New Roman" panose="02020603050405020304" pitchFamily="18" charset="0"/>
              </a:rPr>
              <a:t>4. </a:t>
            </a: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To perform functionality testing, user interface testing and reliability over wide range of devices.</a:t>
            </a:r>
          </a:p>
          <a:p>
            <a:pPr algn="just">
              <a:lnSpc>
                <a:spcPct val="115000"/>
              </a:lnSpc>
              <a:spcAft>
                <a:spcPts val="800"/>
              </a:spcAft>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3.To implement secure data management features to guarantee data privacy and protection.</a:t>
            </a:r>
          </a:p>
          <a:p>
            <a:pPr algn="just">
              <a:lnSpc>
                <a:spcPct val="115000"/>
              </a:lnSpc>
              <a:spcAft>
                <a:spcPts val="800"/>
              </a:spcAft>
            </a:pPr>
            <a:endPar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18C6C71-9446-4286-BE55-22D40165E4E7}"/>
              </a:ext>
            </a:extLst>
          </p:cNvPr>
          <p:cNvSpPr txBox="1"/>
          <p:nvPr/>
        </p:nvSpPr>
        <p:spPr>
          <a:xfrm>
            <a:off x="655675" y="298862"/>
            <a:ext cx="10345479" cy="646331"/>
          </a:xfrm>
          <a:prstGeom prst="rect">
            <a:avLst/>
          </a:prstGeom>
          <a:noFill/>
        </p:spPr>
        <p:txBody>
          <a:bodyPr wrap="square" rtlCol="0">
            <a:spAutoFit/>
          </a:bodyPr>
          <a:lstStyle/>
          <a:p>
            <a:r>
              <a:rPr lang="en-GB" sz="3600" b="1" kern="100" dirty="0">
                <a:latin typeface="Times New Roman" panose="02020603050405020304" pitchFamily="18" charset="0"/>
                <a:ea typeface="Times New Roman" panose="02020603050405020304" pitchFamily="18" charset="0"/>
                <a:cs typeface="Times New Roman" panose="02020603050405020304" pitchFamily="18" charset="0"/>
              </a:rPr>
              <a:t>GOALS AND OBJECTIVES</a:t>
            </a:r>
            <a:endParaRPr lang="en-GB" sz="3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880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91CDC0-447F-40DE-8D21-30DF1BD6CB12}"/>
              </a:ext>
            </a:extLst>
          </p:cNvPr>
          <p:cNvSpPr txBox="1"/>
          <p:nvPr/>
        </p:nvSpPr>
        <p:spPr>
          <a:xfrm>
            <a:off x="340242" y="1660541"/>
            <a:ext cx="10575407" cy="2710486"/>
          </a:xfrm>
          <a:prstGeom prst="rect">
            <a:avLst/>
          </a:prstGeom>
          <a:noFill/>
        </p:spPr>
        <p:txBody>
          <a:bodyPr wrap="square" rtlCol="0">
            <a:spAutoFit/>
          </a:bodyPr>
          <a:lstStyle/>
          <a:p>
            <a:pPr algn="just">
              <a:lnSpc>
                <a:spcPct val="115000"/>
              </a:lnSpc>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Qualitative :  </a:t>
            </a:r>
            <a:r>
              <a:rPr lang="en-GB" sz="2800" kern="100" dirty="0">
                <a:effectLst/>
                <a:latin typeface="Times New Roman" panose="02020603050405020304" pitchFamily="18" charset="0"/>
                <a:ea typeface="Times New Roman" panose="02020603050405020304" pitchFamily="18" charset="0"/>
                <a:cs typeface="Times New Roman" panose="02020603050405020304" pitchFamily="18" charset="0"/>
              </a:rPr>
              <a:t>To obtain insights into user preference, challenges and expectations through interviews and focus groups.</a:t>
            </a:r>
          </a:p>
          <a:p>
            <a:pPr algn="just">
              <a:lnSpc>
                <a:spcPct val="115000"/>
              </a:lnSpc>
              <a:spcAft>
                <a:spcPts val="800"/>
              </a:spcAft>
            </a:pPr>
            <a:r>
              <a:rPr lang="en-GB" sz="2800" b="1" kern="100" dirty="0">
                <a:latin typeface="Times New Roman" panose="02020603050405020304" pitchFamily="18" charset="0"/>
                <a:ea typeface="Times New Roman" panose="02020603050405020304" pitchFamily="18" charset="0"/>
                <a:cs typeface="Times New Roman" panose="02020603050405020304" pitchFamily="18" charset="0"/>
              </a:rPr>
              <a:t>Quantitative</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GB" sz="2800" kern="100" dirty="0">
                <a:effectLst/>
                <a:latin typeface="Times New Roman" panose="02020603050405020304" pitchFamily="18" charset="0"/>
                <a:ea typeface="Times New Roman" panose="02020603050405020304" pitchFamily="18" charset="0"/>
                <a:cs typeface="Times New Roman" panose="02020603050405020304" pitchFamily="18" charset="0"/>
              </a:rPr>
              <a:t>To gather measurable data on system usability and performance via surveys and analytics.</a:t>
            </a:r>
          </a:p>
          <a:p>
            <a:endParaRPr lang="en-GB"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F64A1EC-5C09-42CF-A8AD-708F88C81EE2}"/>
              </a:ext>
            </a:extLst>
          </p:cNvPr>
          <p:cNvSpPr txBox="1"/>
          <p:nvPr/>
        </p:nvSpPr>
        <p:spPr>
          <a:xfrm>
            <a:off x="340241" y="544193"/>
            <a:ext cx="10575407" cy="707886"/>
          </a:xfrm>
          <a:prstGeom prst="rect">
            <a:avLst/>
          </a:prstGeom>
          <a:noFill/>
        </p:spPr>
        <p:txBody>
          <a:bodyPr wrap="square" rtlCol="0">
            <a:spAutoFit/>
          </a:bodyPr>
          <a:lstStyle/>
          <a:p>
            <a:r>
              <a:rPr lang="en-GB" sz="4000" b="1" kern="100" dirty="0">
                <a:latin typeface="Times New Roman" panose="02020603050405020304" pitchFamily="18" charset="0"/>
                <a:cs typeface="Times New Roman" panose="02020603050405020304" pitchFamily="18" charset="0"/>
              </a:rPr>
              <a:t>Research Methodology.</a:t>
            </a:r>
            <a:endParaRPr lang="en-GB" sz="4000" dirty="0"/>
          </a:p>
        </p:txBody>
      </p:sp>
    </p:spTree>
    <p:extLst>
      <p:ext uri="{BB962C8B-B14F-4D97-AF65-F5344CB8AC3E}">
        <p14:creationId xmlns:p14="http://schemas.microsoft.com/office/powerpoint/2010/main" val="601967753"/>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9DC682-5D33-4AB8-9B75-7EB447C70125}"/>
              </a:ext>
            </a:extLst>
          </p:cNvPr>
          <p:cNvSpPr txBox="1"/>
          <p:nvPr/>
        </p:nvSpPr>
        <p:spPr>
          <a:xfrm>
            <a:off x="552892" y="1526217"/>
            <a:ext cx="9898909" cy="3308598"/>
          </a:xfrm>
          <a:prstGeom prst="rect">
            <a:avLst/>
          </a:prstGeom>
          <a:noFill/>
        </p:spPr>
        <p:txBody>
          <a:bodyPr wrap="square" rtlCol="0">
            <a:spAutoFit/>
          </a:bodyPr>
          <a:lstStyle/>
          <a:p>
            <a:pPr algn="just">
              <a:lnSpc>
                <a:spcPct val="115000"/>
              </a:lnSpc>
              <a:spcAft>
                <a:spcPts val="800"/>
              </a:spcAft>
            </a:pPr>
            <a:r>
              <a:rPr lang="en-GB" sz="2800" kern="100" dirty="0">
                <a:effectLst/>
                <a:latin typeface="Times New Roman" panose="02020603050405020304" pitchFamily="18" charset="0"/>
                <a:ea typeface="Times New Roman" panose="02020603050405020304" pitchFamily="18" charset="0"/>
                <a:cs typeface="Times New Roman" panose="02020603050405020304" pitchFamily="18" charset="0"/>
              </a:rPr>
              <a:t>1. Questionnaires: To collect user feedback on current registration processes and the proposed system.  </a:t>
            </a:r>
          </a:p>
          <a:p>
            <a:pPr algn="just">
              <a:lnSpc>
                <a:spcPct val="115000"/>
              </a:lnSpc>
              <a:spcAft>
                <a:spcPts val="800"/>
              </a:spcAft>
            </a:pPr>
            <a:r>
              <a:rPr lang="en-GB" sz="2800" kern="100" dirty="0">
                <a:effectLst/>
                <a:latin typeface="Times New Roman" panose="02020603050405020304" pitchFamily="18" charset="0"/>
                <a:ea typeface="Times New Roman" panose="02020603050405020304" pitchFamily="18" charset="0"/>
                <a:cs typeface="Times New Roman" panose="02020603050405020304" pitchFamily="18" charset="0"/>
              </a:rPr>
              <a:t>2. Interviews: With administrative staff to pinpoint inefficiencies in the existing system.  </a:t>
            </a:r>
          </a:p>
          <a:p>
            <a:pPr algn="just">
              <a:lnSpc>
                <a:spcPct val="115000"/>
              </a:lnSpc>
              <a:spcAft>
                <a:spcPts val="800"/>
              </a:spcAft>
            </a:pPr>
            <a:r>
              <a:rPr lang="en-GB" sz="2800" kern="100" dirty="0">
                <a:effectLst/>
                <a:latin typeface="Times New Roman" panose="02020603050405020304" pitchFamily="18" charset="0"/>
                <a:ea typeface="Times New Roman" panose="02020603050405020304" pitchFamily="18" charset="0"/>
                <a:cs typeface="Times New Roman" panose="02020603050405020304" pitchFamily="18" charset="0"/>
              </a:rPr>
              <a:t>3. Observation: To study user interactions with current systems.  </a:t>
            </a:r>
          </a:p>
          <a:p>
            <a:endParaRPr lang="en-GB"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6B6C5F6-9167-406A-B133-2C9702854C13}"/>
              </a:ext>
            </a:extLst>
          </p:cNvPr>
          <p:cNvSpPr txBox="1"/>
          <p:nvPr/>
        </p:nvSpPr>
        <p:spPr>
          <a:xfrm>
            <a:off x="552892" y="594805"/>
            <a:ext cx="9898910" cy="1200329"/>
          </a:xfrm>
          <a:prstGeom prst="rect">
            <a:avLst/>
          </a:prstGeom>
          <a:noFill/>
        </p:spPr>
        <p:txBody>
          <a:bodyPr wrap="square" rtlCol="0">
            <a:spAutoFit/>
          </a:bodyPr>
          <a:lstStyle/>
          <a:p>
            <a:r>
              <a:rPr lang="en-GB" sz="3600" b="1" kern="100" dirty="0">
                <a:effectLst/>
                <a:latin typeface="Times New Roman" panose="02020603050405020304" pitchFamily="18" charset="0"/>
                <a:ea typeface="Times New Roman" panose="02020603050405020304" pitchFamily="18" charset="0"/>
                <a:cs typeface="Times New Roman" panose="02020603050405020304" pitchFamily="18" charset="0"/>
              </a:rPr>
              <a:t>DATA COLLECTION TOOLS</a:t>
            </a:r>
          </a:p>
          <a:p>
            <a:endParaRPr lang="en-GB" sz="3600" dirty="0"/>
          </a:p>
        </p:txBody>
      </p:sp>
    </p:spTree>
    <p:extLst>
      <p:ext uri="{BB962C8B-B14F-4D97-AF65-F5344CB8AC3E}">
        <p14:creationId xmlns:p14="http://schemas.microsoft.com/office/powerpoint/2010/main" val="275785414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AD18B6-E723-4404-97C0-449B4B9CE6C8}"/>
              </a:ext>
            </a:extLst>
          </p:cNvPr>
          <p:cNvSpPr txBox="1"/>
          <p:nvPr/>
        </p:nvSpPr>
        <p:spPr>
          <a:xfrm>
            <a:off x="537209" y="1106228"/>
            <a:ext cx="11088733" cy="3108543"/>
          </a:xfrm>
          <a:prstGeom prst="rect">
            <a:avLst/>
          </a:prstGeom>
          <a:noFill/>
        </p:spPr>
        <p:txBody>
          <a:bodyPr wrap="square" rtlCol="0">
            <a:spAutoFit/>
          </a:bodyPr>
          <a:lstStyle/>
          <a:p>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Chosen SDM: Agile Development Methodology</a:t>
            </a:r>
            <a:endParaRPr lang="en-GB" sz="2800" b="1" dirty="0"/>
          </a:p>
          <a:p>
            <a:r>
              <a:rPr lang="en-GB" sz="2800" kern="100" dirty="0">
                <a:effectLst/>
                <a:latin typeface="Times New Roman" panose="02020603050405020304" pitchFamily="18" charset="0"/>
                <a:ea typeface="Times New Roman" panose="02020603050405020304" pitchFamily="18" charset="0"/>
                <a:cs typeface="Times New Roman" panose="02020603050405020304" pitchFamily="18" charset="0"/>
              </a:rPr>
              <a:t>For this project, the opted method for development is the Agile methodology. Agile is a flexible, iterative approach that emphasizes collaboration, customer feedback, and small, incremental releases, making it especially well-suited for creating user-focused systems like mobile applications.  </a:t>
            </a:r>
            <a:endParaRPr lang="en-GB" sz="2800" kern="100" dirty="0">
              <a:effectLst/>
              <a:latin typeface="Aptos"/>
              <a:ea typeface="Times New Roman" panose="02020603050405020304" pitchFamily="18" charset="0"/>
              <a:cs typeface="Times New Roman" panose="02020603050405020304" pitchFamily="18" charset="0"/>
            </a:endParaRPr>
          </a:p>
          <a:p>
            <a:endParaRPr lang="en-GB" sz="2800" dirty="0"/>
          </a:p>
        </p:txBody>
      </p:sp>
      <p:sp>
        <p:nvSpPr>
          <p:cNvPr id="5" name="TextBox 4">
            <a:extLst>
              <a:ext uri="{FF2B5EF4-FFF2-40B4-BE49-F238E27FC236}">
                <a16:creationId xmlns:a16="http://schemas.microsoft.com/office/drawing/2014/main" id="{107A74A1-5665-4967-BAEB-470CAC8A589A}"/>
              </a:ext>
            </a:extLst>
          </p:cNvPr>
          <p:cNvSpPr txBox="1"/>
          <p:nvPr/>
        </p:nvSpPr>
        <p:spPr>
          <a:xfrm>
            <a:off x="537209" y="296883"/>
            <a:ext cx="10241280" cy="646331"/>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SOFTWARE DEVELOPMENT PROCESS</a:t>
            </a:r>
          </a:p>
        </p:txBody>
      </p:sp>
      <p:pic>
        <p:nvPicPr>
          <p:cNvPr id="6" name="Picture 5">
            <a:extLst>
              <a:ext uri="{FF2B5EF4-FFF2-40B4-BE49-F238E27FC236}">
                <a16:creationId xmlns:a16="http://schemas.microsoft.com/office/drawing/2014/main" id="{80E94FD0-3500-4C67-9640-73D2536880D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13263" y="3429000"/>
            <a:ext cx="5615940" cy="3429000"/>
          </a:xfrm>
          <a:prstGeom prst="rect">
            <a:avLst/>
          </a:prstGeom>
          <a:noFill/>
          <a:ln>
            <a:noFill/>
          </a:ln>
        </p:spPr>
      </p:pic>
    </p:spTree>
    <p:extLst>
      <p:ext uri="{BB962C8B-B14F-4D97-AF65-F5344CB8AC3E}">
        <p14:creationId xmlns:p14="http://schemas.microsoft.com/office/powerpoint/2010/main" val="12926040"/>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83749B-5C4D-40E3-8886-CBF1DACC45B1}"/>
              </a:ext>
            </a:extLst>
          </p:cNvPr>
          <p:cNvSpPr txBox="1"/>
          <p:nvPr/>
        </p:nvSpPr>
        <p:spPr>
          <a:xfrm>
            <a:off x="560070" y="1000661"/>
            <a:ext cx="11464290" cy="5189113"/>
          </a:xfrm>
          <a:prstGeom prst="rect">
            <a:avLst/>
          </a:prstGeom>
          <a:noFill/>
        </p:spPr>
        <p:txBody>
          <a:bodyPr wrap="square" rtlCol="0">
            <a:spAutoFit/>
          </a:bodyPr>
          <a:lstStyle/>
          <a:p>
            <a:pPr marL="342900" lvl="0" indent="-342900" algn="just">
              <a:lnSpc>
                <a:spcPct val="115000"/>
              </a:lnSpc>
              <a:buFont typeface="+mj-lt"/>
              <a:buAutoNum type="arabicPeriod"/>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Development tools </a:t>
            </a:r>
            <a:endParaRPr lang="en-GB" sz="2400" kern="100" dirty="0">
              <a:effectLst/>
              <a:latin typeface="Aptos"/>
              <a:ea typeface="Times New Roman" panose="02020603050405020304" pitchFamily="18"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Integrated Development Environment (IDE): Visual Studio Code and IntelliJ IDEA</a:t>
            </a:r>
            <a:endParaRPr lang="en-GB" sz="2400" kern="100" dirty="0">
              <a:latin typeface="Aptos"/>
              <a:ea typeface="Times New Roman" panose="02020603050405020304" pitchFamily="18" charset="0"/>
              <a:cs typeface="Times New Roman" panose="02020603050405020304" pitchFamily="18" charset="0"/>
            </a:endParaRPr>
          </a:p>
          <a:p>
            <a:pPr lvl="0" algn="just">
              <a:lnSpc>
                <a:spcPct val="115000"/>
              </a:lnSpc>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2. Programming Languages</a:t>
            </a:r>
            <a:endParaRPr lang="en-GB" sz="2400" kern="100" dirty="0">
              <a:effectLst/>
              <a:latin typeface="Aptos"/>
              <a:ea typeface="Times New Roman" panose="02020603050405020304" pitchFamily="18"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Backend: Java Spring boot </a:t>
            </a:r>
            <a:endParaRPr lang="en-GB" sz="2400" kern="1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Frontend: JavaScript, </a:t>
            </a:r>
            <a:r>
              <a:rPr lang="en-GB" sz="2400" kern="100" dirty="0" err="1">
                <a:effectLst/>
                <a:latin typeface="Times New Roman" panose="02020603050405020304" pitchFamily="18" charset="0"/>
                <a:ea typeface="Times New Roman" panose="02020603050405020304" pitchFamily="18" charset="0"/>
                <a:cs typeface="Times New Roman" panose="02020603050405020304" pitchFamily="18" charset="0"/>
              </a:rPr>
              <a:t>ReactNative</a:t>
            </a: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GB" sz="2400" kern="100" dirty="0">
              <a:effectLst/>
              <a:latin typeface="Aptos"/>
              <a:ea typeface="Times New Roman" panose="02020603050405020304" pitchFamily="18" charset="0"/>
              <a:cs typeface="Times New Roman" panose="02020603050405020304" pitchFamily="18" charset="0"/>
            </a:endParaRPr>
          </a:p>
          <a:p>
            <a:pPr lvl="0" algn="just">
              <a:lnSpc>
                <a:spcPct val="115000"/>
              </a:lnSpc>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3. Database Management System(DBMS) </a:t>
            </a:r>
            <a:endParaRPr lang="en-GB" sz="2400" kern="100" dirty="0">
              <a:effectLst/>
              <a:latin typeface="Aptos"/>
              <a:ea typeface="Times New Roman" panose="02020603050405020304" pitchFamily="18"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400" kern="100" dirty="0" err="1">
                <a:effectLst/>
                <a:latin typeface="Times New Roman" panose="02020603050405020304" pitchFamily="18" charset="0"/>
                <a:ea typeface="Times New Roman" panose="02020603050405020304" pitchFamily="18" charset="0"/>
                <a:cs typeface="Times New Roman" panose="02020603050405020304" pitchFamily="18" charset="0"/>
              </a:rPr>
              <a:t>Xampp</a:t>
            </a:r>
            <a:endParaRPr lang="en-GB" sz="2400" kern="100" dirty="0">
              <a:effectLst/>
              <a:latin typeface="Aptos"/>
              <a:ea typeface="Times New Roman" panose="02020603050405020304" pitchFamily="18" charset="0"/>
              <a:cs typeface="Times New Roman" panose="02020603050405020304" pitchFamily="18" charset="0"/>
            </a:endParaRPr>
          </a:p>
          <a:p>
            <a:pPr lvl="0" algn="just">
              <a:lnSpc>
                <a:spcPct val="115000"/>
              </a:lnSpc>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4.Testing tools</a:t>
            </a:r>
            <a:endParaRPr lang="en-GB" sz="2400" kern="100" dirty="0">
              <a:effectLst/>
              <a:latin typeface="Aptos"/>
              <a:ea typeface="Times New Roman" panose="02020603050405020304" pitchFamily="18"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Postman</a:t>
            </a:r>
            <a:endParaRPr lang="en-GB" sz="2400" kern="100" dirty="0">
              <a:effectLst/>
              <a:latin typeface="Aptos"/>
              <a:ea typeface="Times New Roman" panose="02020603050405020304" pitchFamily="18" charset="0"/>
              <a:cs typeface="Times New Roman" panose="02020603050405020304" pitchFamily="18" charset="0"/>
            </a:endParaRPr>
          </a:p>
          <a:p>
            <a:pPr lvl="0" algn="just">
              <a:lnSpc>
                <a:spcPct val="115000"/>
              </a:lnSpc>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5.Project Management Tools: Jira</a:t>
            </a:r>
            <a:endParaRPr lang="en-GB" sz="2400" kern="100" dirty="0">
              <a:effectLst/>
              <a:latin typeface="Aptos"/>
              <a:ea typeface="Times New Roman" panose="02020603050405020304" pitchFamily="18" charset="0"/>
              <a:cs typeface="Times New Roman" panose="02020603050405020304" pitchFamily="18" charset="0"/>
            </a:endParaRPr>
          </a:p>
          <a:p>
            <a:pPr lvl="0" algn="just">
              <a:lnSpc>
                <a:spcPct val="115000"/>
              </a:lnSpc>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6.Deployment Tools</a:t>
            </a:r>
            <a:endParaRPr lang="en-GB" sz="2400" kern="100" dirty="0">
              <a:effectLst/>
              <a:latin typeface="Aptos"/>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Symbol" panose="05050102010706020507" pitchFamily="18" charset="2"/>
              <a:buChar char=""/>
            </a:pPr>
            <a:r>
              <a:rPr lang="en-GB" sz="2400" kern="100" dirty="0">
                <a:effectLst/>
                <a:latin typeface="Times New Roman" panose="02020603050405020304" pitchFamily="18" charset="0"/>
                <a:ea typeface="Times New Roman" panose="02020603050405020304" pitchFamily="18" charset="0"/>
                <a:cs typeface="Times New Roman" panose="02020603050405020304" pitchFamily="18" charset="0"/>
              </a:rPr>
              <a:t>Docker for containerization.</a:t>
            </a:r>
            <a:endParaRPr lang="en-GB" sz="2400" kern="100" dirty="0">
              <a:effectLst/>
              <a:latin typeface="Aptos"/>
              <a:ea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824EB20-944C-48B4-B6E2-676C9BB077BC}"/>
              </a:ext>
            </a:extLst>
          </p:cNvPr>
          <p:cNvSpPr txBox="1"/>
          <p:nvPr/>
        </p:nvSpPr>
        <p:spPr>
          <a:xfrm>
            <a:off x="560070" y="354330"/>
            <a:ext cx="7018020" cy="646331"/>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SOFTWARE REQUIREMENTS</a:t>
            </a:r>
          </a:p>
        </p:txBody>
      </p:sp>
    </p:spTree>
    <p:extLst>
      <p:ext uri="{BB962C8B-B14F-4D97-AF65-F5344CB8AC3E}">
        <p14:creationId xmlns:p14="http://schemas.microsoft.com/office/powerpoint/2010/main" val="1891805468"/>
      </p:ext>
    </p:extLst>
  </p:cSld>
  <p:clrMapOvr>
    <a:masterClrMapping/>
  </p:clrMapOvr>
  <mc:AlternateContent xmlns:mc="http://schemas.openxmlformats.org/markup-compatibility/2006" xmlns:p14="http://schemas.microsoft.com/office/powerpoint/2010/main">
    <mc:Choice Requires="p14">
      <p:transition spd="slow" p14:dur="2500">
        <p:randomBar dir="vert"/>
      </p:transition>
    </mc:Choice>
    <mc:Fallback xmlns="">
      <p:transition spd="slow">
        <p:randomBar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9500">
              <a:srgbClr val="C7EBF9"/>
            </a:gs>
            <a:gs pos="4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8C2493-CE2E-4380-8424-94806AF7E679}"/>
              </a:ext>
            </a:extLst>
          </p:cNvPr>
          <p:cNvSpPr txBox="1"/>
          <p:nvPr/>
        </p:nvSpPr>
        <p:spPr>
          <a:xfrm>
            <a:off x="541020" y="565249"/>
            <a:ext cx="6286500" cy="646331"/>
          </a:xfrm>
          <a:prstGeom prst="rect">
            <a:avLst/>
          </a:prstGeom>
          <a:noFill/>
        </p:spPr>
        <p:txBody>
          <a:bodyPr wrap="square" rtlCol="0">
            <a:spAutoFit/>
          </a:bodyPr>
          <a:lstStyle/>
          <a:p>
            <a:r>
              <a:rPr lang="en-GB" sz="3600"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33C84A48-94F0-47CC-982C-2037ADE04BED}"/>
              </a:ext>
            </a:extLst>
          </p:cNvPr>
          <p:cNvSpPr txBox="1"/>
          <p:nvPr/>
        </p:nvSpPr>
        <p:spPr>
          <a:xfrm>
            <a:off x="541020" y="1783080"/>
            <a:ext cx="11109960" cy="3970318"/>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This project seeks to address the inefficiencies in university student registration process by developing a mobile based application. Through the review of the existing system, challenges such as delays, inaccuracies, and administrative burdens were highlighted. The proposed solution emphasizes efficiency, user satisfaction, data security and scalability. By leveraging the agile methodology, the project ensures iterative development, stakeholder feedback integration and flexibility in meeting changing needs. Ultimately, this initiative will provide a user centred, secure and efficient platform that enhances the registration experience for students and administrators alike.</a:t>
            </a:r>
          </a:p>
        </p:txBody>
      </p:sp>
    </p:spTree>
    <p:extLst>
      <p:ext uri="{BB962C8B-B14F-4D97-AF65-F5344CB8AC3E}">
        <p14:creationId xmlns:p14="http://schemas.microsoft.com/office/powerpoint/2010/main" val="20916818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225</TotalTime>
  <Words>701</Words>
  <Application>Microsoft Office PowerPoint</Application>
  <PresentationFormat>Widescreen</PresentationFormat>
  <Paragraphs>41</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Aptos</vt:lpstr>
      <vt:lpstr>Calibri</vt:lpstr>
      <vt:lpstr>Symbol</vt:lpstr>
      <vt:lpstr>Times New Roman</vt:lpstr>
      <vt:lpstr>Tw Cen MT</vt:lpstr>
      <vt:lpstr>Tw Cen MT Condensed</vt:lpstr>
      <vt:lpstr>Wingdings 3</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D. Momanyi</dc:creator>
  <cp:lastModifiedBy>Green</cp:lastModifiedBy>
  <cp:revision>47</cp:revision>
  <dcterms:created xsi:type="dcterms:W3CDTF">2025-01-16T19:03:47Z</dcterms:created>
  <dcterms:modified xsi:type="dcterms:W3CDTF">2025-01-17T08:19:42Z</dcterms:modified>
</cp:coreProperties>
</file>